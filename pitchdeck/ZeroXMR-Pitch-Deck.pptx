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1682" y="1319213"/>
            <a:ext cx="4940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• PERMISSIONLESS • PRIVATE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08867" y="1700213"/>
            <a:ext cx="312626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XMR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822301" y="2500313"/>
            <a:ext cx="349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Trustless Wrapped Monero on Ethereum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91000" y="3148013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71500" y="3557588"/>
            <a:ext cx="100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zeroxmr.com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ecosystems, isolated by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" y="1514475"/>
            <a:ext cx="4169569" cy="3127921"/>
          </a:xfrm>
          <a:prstGeom prst="roundRect">
            <a:avLst>
              <a:gd name="adj" fmla="val 365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1514475"/>
            <a:ext cx="0" cy="31279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743075"/>
            <a:ext cx="3747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2196405"/>
            <a:ext cx="374775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Privacy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95300" y="2832646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Ring signatures hide sender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95300" y="3146971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Stealth addresses hide receiver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95300" y="3461296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Confidential transactions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5300" y="3775621"/>
            <a:ext cx="3674269" cy="9525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899446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DeFi access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95300" y="4213771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Exchange delistings rising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26769" y="1514475"/>
            <a:ext cx="4169569" cy="3127921"/>
          </a:xfrm>
          <a:prstGeom prst="roundRect">
            <a:avLst>
              <a:gd name="adj" fmla="val 365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5819" y="1514475"/>
            <a:ext cx="0" cy="3127921"/>
          </a:xfrm>
          <a:prstGeom prst="line">
            <a:avLst/>
          </a:prstGeom>
          <a:noFill/>
          <a:ln w="38100">
            <a:solidFill>
              <a:srgbClr val="62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3469" y="1743075"/>
            <a:ext cx="3747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3469" y="2196405"/>
            <a:ext cx="374775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Powerhouse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93469" y="2832646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Smart contracts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893469" y="3146971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DEXs, lending, yield farming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893469" y="3461296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Composable protocols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893469" y="3775621"/>
            <a:ext cx="3674269" cy="9525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93469" y="3899446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Fully transparent ledger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893469" y="4213771"/>
            <a:ext cx="3747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Every wallet exposed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proofs bridge the gap</a:t>
            </a:r>
            <a:endParaRPr lang="en-US" sz="1200" dirty="0"/>
          </a:p>
        </p:txBody>
      </p:sp>
      <p:pic>
        <p:nvPicPr>
          <p:cNvPr id="4" name="Image 0" descr="/tmp/rasterized-gradient-bc3993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01366"/>
            <a:ext cx="8686800" cy="1047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5758" y="1601391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XMR → Generate ZK Proof → Receive Wrapped Tokens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5758" y="2035671"/>
            <a:ext cx="8452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intermediaries. No KYC. No revealed transaction details.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2601367"/>
            <a:ext cx="2793950" cy="1815108"/>
          </a:xfrm>
          <a:prstGeom prst="roundRect">
            <a:avLst>
              <a:gd name="adj" fmla="val 629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11635" y="2753767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269950" y="3481388"/>
            <a:ext cx="72532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Trustless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356108" y="3917603"/>
            <a:ext cx="253893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proofs replace trusted third parties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174950" y="2687985"/>
            <a:ext cx="2793950" cy="1641872"/>
          </a:xfrm>
          <a:prstGeom prst="roundRect">
            <a:avLst>
              <a:gd name="adj" fmla="val 696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57985" y="2840385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301877" y="3568005"/>
            <a:ext cx="55089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3328114" y="4004221"/>
            <a:ext cx="248762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secrets never revealed on-chain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6121301" y="2601367"/>
            <a:ext cx="2793950" cy="1815108"/>
          </a:xfrm>
          <a:prstGeom prst="roundRect">
            <a:avLst>
              <a:gd name="adj" fmla="val 629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304336" y="2753767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75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6924080" y="3481388"/>
            <a:ext cx="121200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Permissionless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6248809" y="3917603"/>
            <a:ext cx="253893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bridge, anyone can provide liquidity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2769691" y="4568875"/>
            <a:ext cx="9225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curve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78920" y="4568875"/>
            <a:ext cx="10362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Keccak256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299621" y="4568875"/>
            <a:ext cx="109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SNARKs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to trustless wrapped XMR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9200" y="186794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3866" y="1867942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5516" y="2648992"/>
            <a:ext cx="720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XMR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26348" y="3039517"/>
            <a:ext cx="11191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LP stealth address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00300" y="237366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76600" y="186794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71266" y="1867942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6841" y="2648992"/>
            <a:ext cx="1052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Proof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969935" y="3039517"/>
            <a:ext cx="11465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ZK-SNARK via circom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57700" y="237366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34000" y="186794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62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28666" y="1867942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43162" y="2648992"/>
            <a:ext cx="9149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Proof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069233" y="3039517"/>
            <a:ext cx="10627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verification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5100" y="237366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91400" y="186794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86066" y="1867942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63976" y="2648992"/>
            <a:ext cx="988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zXMR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7071528" y="3039517"/>
            <a:ext cx="11729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ERC-20 tokens minted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9380" y="3428107"/>
            <a:ext cx="6205091" cy="860822"/>
          </a:xfrm>
          <a:prstGeom prst="roundRect">
            <a:avLst>
              <a:gd name="adj" fmla="val 13278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27941" y="3628132"/>
            <a:ext cx="56879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ZK CIRCUIT PROVES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783705" y="3915668"/>
            <a:ext cx="14187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Knowledge of tx secret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479453" y="3915668"/>
            <a:ext cx="120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 destination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61781" y="3915668"/>
            <a:ext cx="969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Payment to LP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216997" y="3915668"/>
            <a:ext cx="11660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Encrypted amount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Circuit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monero_bridge.circom — the cryptographic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" y="1307157"/>
            <a:ext cx="4270177" cy="3542407"/>
          </a:xfrm>
          <a:prstGeom prst="roundRect">
            <a:avLst>
              <a:gd name="adj" fmla="val 3227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469082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Private inputs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90525" y="1806178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r[255] → tx secret key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90525" y="2124224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→ amount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90525" y="2442270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P_extended → stealth addr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90525" y="2836515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inputs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90525" y="3173611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R_x → tx public key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90525" y="3491657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ecdhAmount → encrypted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90525" y="3809702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→ LP keys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90525" y="4203948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90525" y="4541044"/>
            <a:ext cx="40252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verified_amount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51177" y="1648123"/>
            <a:ext cx="4264223" cy="567482"/>
          </a:xfrm>
          <a:prstGeom prst="roundRect">
            <a:avLst>
              <a:gd name="adj" fmla="val 1342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5464" y="1648123"/>
            <a:ext cx="0" cy="567482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4052" y="1762423"/>
            <a:ext cx="40871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R = r·G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94052" y="1954709"/>
            <a:ext cx="40871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of transaction secret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51177" y="2291804"/>
            <a:ext cx="4264223" cy="567482"/>
          </a:xfrm>
          <a:prstGeom prst="roundRect">
            <a:avLst>
              <a:gd name="adj" fmla="val 1342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5464" y="2291804"/>
            <a:ext cx="0" cy="56748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4052" y="2406104"/>
            <a:ext cx="40871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 = 8·r·A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794052" y="2598390"/>
            <a:ext cx="40871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secret with cofactor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51177" y="2935486"/>
            <a:ext cx="4264223" cy="567482"/>
          </a:xfrm>
          <a:prstGeom prst="roundRect">
            <a:avLst>
              <a:gd name="adj" fmla="val 1342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5464" y="2935486"/>
            <a:ext cx="0" cy="567482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4052" y="3049786"/>
            <a:ext cx="40871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Destination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794052" y="3242072"/>
            <a:ext cx="40871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 address compression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51177" y="3579168"/>
            <a:ext cx="4264223" cy="567482"/>
          </a:xfrm>
          <a:prstGeom prst="roundRect">
            <a:avLst>
              <a:gd name="adj" fmla="val 1342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65464" y="3579168"/>
            <a:ext cx="0" cy="567482"/>
          </a:xfrm>
          <a:prstGeom prst="line">
            <a:avLst/>
          </a:prstGeom>
          <a:noFill/>
          <a:ln w="28575">
            <a:solidFill>
              <a:srgbClr val="627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4052" y="3693468"/>
            <a:ext cx="40871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Amount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794052" y="3885754"/>
            <a:ext cx="40871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with Keccak256 hash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651177" y="4222849"/>
            <a:ext cx="4264223" cy="285750"/>
          </a:xfrm>
          <a:prstGeom prst="roundRect">
            <a:avLst>
              <a:gd name="adj" fmla="val 2000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86258" y="4299049"/>
            <a:ext cx="41940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~500k constraints • circom 2.1.0 • Groth16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guarantees at every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" y="1148953"/>
            <a:ext cx="2806750" cy="1778943"/>
          </a:xfrm>
          <a:prstGeom prst="roundRect">
            <a:avLst>
              <a:gd name="adj" fmla="val 642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32040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D4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5859" y="1320403"/>
            <a:ext cx="4274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0050" y="1987153"/>
            <a:ext cx="25131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Curve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050" y="2409974"/>
            <a:ext cx="251312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Monero-native elliptic curve operations ensure full compatibility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168700" y="1148953"/>
            <a:ext cx="2806750" cy="1778943"/>
          </a:xfrm>
          <a:prstGeom prst="roundRect">
            <a:avLst>
              <a:gd name="adj" fmla="val 642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40150" y="132040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35959" y="1320403"/>
            <a:ext cx="4274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40150" y="1987153"/>
            <a:ext cx="25131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Keccak256 Hash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40150" y="2409974"/>
            <a:ext cx="251312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Monero cryptographic primitive for all hashing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108799" y="1148953"/>
            <a:ext cx="2806750" cy="1778943"/>
          </a:xfrm>
          <a:prstGeom prst="roundRect">
            <a:avLst>
              <a:gd name="adj" fmla="val 642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0249" y="132040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76058" y="1320403"/>
            <a:ext cx="4274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0249" y="1987153"/>
            <a:ext cx="25131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Cofactor Clearing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0249" y="2409974"/>
            <a:ext cx="251312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8·(r·A) ensures prime-order subgroup security</a:t>
            </a:r>
            <a:endParaRPr lang="en-US" sz="975" dirty="0"/>
          </a:p>
        </p:txBody>
      </p:sp>
      <p:pic>
        <p:nvPicPr>
          <p:cNvPr id="19" name="Image 0" descr="/tmp/rasterized-gradient-8da43b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042196"/>
            <a:ext cx="4276725" cy="150078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09575" y="3223171"/>
            <a:ext cx="3993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ADDRESS VERIFICATION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09575" y="3605957"/>
            <a:ext cx="3993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view/spend keys prevent address spoofing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409575" y="4015532"/>
            <a:ext cx="399307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 publish their keys on-chain. The circuit verifies payments are made to the correct address.</a:t>
            </a:r>
            <a:endParaRPr lang="en-US" sz="975" dirty="0"/>
          </a:p>
        </p:txBody>
      </p:sp>
      <p:pic>
        <p:nvPicPr>
          <p:cNvPr id="23" name="Image 1" descr="/tmp/rasterized-gradient-92b37e6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3128814"/>
            <a:ext cx="4276725" cy="13275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819650" y="3309789"/>
            <a:ext cx="3993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VERIFICATION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4819650" y="3692575"/>
            <a:ext cx="3993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verifier contract validates Groth16 proofs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4819650" y="4102150"/>
            <a:ext cx="3993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cryptographically verified before tokens are minted.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228600" y="4657279"/>
            <a:ext cx="8686800" cy="350490"/>
          </a:xfrm>
          <a:prstGeom prst="roundRect">
            <a:avLst>
              <a:gd name="adj" fmla="val 21741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36042" y="4752529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Separation: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"amount" prefix in hash prevents collision attacks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components working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81200" y="1288107"/>
            <a:ext cx="2476500" cy="1215033"/>
          </a:xfrm>
          <a:prstGeom prst="roundRect">
            <a:avLst>
              <a:gd name="adj" fmla="val 940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981200" y="1307157"/>
            <a:ext cx="24765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52650" y="1497657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CIRCOM CIRCUIT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52650" y="1714798"/>
            <a:ext cx="2176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52650" y="1985218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SNARK proof of Monero transaction validity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86300" y="1288107"/>
            <a:ext cx="2476500" cy="1215033"/>
          </a:xfrm>
          <a:prstGeom prst="roundRect">
            <a:avLst>
              <a:gd name="adj" fmla="val 940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86300" y="1307157"/>
            <a:ext cx="2476500" cy="0"/>
          </a:xfrm>
          <a:prstGeom prst="line">
            <a:avLst/>
          </a:prstGeom>
          <a:noFill/>
          <a:ln w="38100">
            <a:solidFill>
              <a:srgbClr val="62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7750" y="1497657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VERIFIER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7750" y="1714798"/>
            <a:ext cx="2176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7750" y="1985218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proof verification in smart contract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619500" y="2655540"/>
            <a:ext cx="971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29250" y="2655540"/>
            <a:ext cx="971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81200" y="3074640"/>
            <a:ext cx="2476500" cy="1215033"/>
          </a:xfrm>
          <a:prstGeom prst="roundRect">
            <a:avLst>
              <a:gd name="adj" fmla="val 940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981200" y="3093690"/>
            <a:ext cx="24765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2650" y="3284190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NETWORK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2650" y="3501330"/>
            <a:ext cx="2176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Providers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52650" y="3771751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LPs with published view/spend keys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86300" y="3074640"/>
            <a:ext cx="2476500" cy="1215033"/>
          </a:xfrm>
          <a:prstGeom prst="roundRect">
            <a:avLst>
              <a:gd name="adj" fmla="val 940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86300" y="3093690"/>
            <a:ext cx="24765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3284190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CONTRACT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7750" y="3501330"/>
            <a:ext cx="2176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zXMR ERC-20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57750" y="3771751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Monero with mint/burn capabilities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637830" y="4518273"/>
            <a:ext cx="3868192" cy="350490"/>
          </a:xfrm>
          <a:prstGeom prst="roundRect">
            <a:avLst>
              <a:gd name="adj" fmla="val 21741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04530" y="4613523"/>
            <a:ext cx="6349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circom 2.1.0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93778" y="4613523"/>
            <a:ext cx="36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snarkjs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22577" y="4613523"/>
            <a:ext cx="83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ed25519-circom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08873" y="4613523"/>
            <a:ext cx="7450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keccak-circom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Zero XMR?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every stakeholder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" y="1857375"/>
            <a:ext cx="2806750" cy="2441972"/>
          </a:xfrm>
          <a:prstGeom prst="roundRect">
            <a:avLst>
              <a:gd name="adj" fmla="val 468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1876425"/>
            <a:ext cx="280675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050" y="2066925"/>
            <a:ext cx="25131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USERS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00050" y="2506861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KYC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00050" y="2744986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identity verification or trusted intermediaries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0050" y="3038326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Preserved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00050" y="3276451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proofs reveal nothing about your transaction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0050" y="3729782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Access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00050" y="3967907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XMR in lending, DEXs, and yield protocols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68700" y="1857375"/>
            <a:ext cx="2806750" cy="2441972"/>
          </a:xfrm>
          <a:prstGeom prst="roundRect">
            <a:avLst>
              <a:gd name="adj" fmla="val 468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168700" y="1876425"/>
            <a:ext cx="28067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0150" y="2066925"/>
            <a:ext cx="25131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LPs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340150" y="2506861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Ops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340150" y="2744986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public keys enable verification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40150" y="3038326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Fraud-Proof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340150" y="3276451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verification prevents fake claims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40150" y="3569791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Revenue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340150" y="3807916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from bridge operations and liquidity provision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08799" y="1937445"/>
            <a:ext cx="2806750" cy="2281982"/>
          </a:xfrm>
          <a:prstGeom prst="roundRect">
            <a:avLst>
              <a:gd name="adj" fmla="val 500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08799" y="1956495"/>
            <a:ext cx="28067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0249" y="2146995"/>
            <a:ext cx="25131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DEVELOPERS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280249" y="2586930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280249" y="2825055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ERC-20 token integrates anywhere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80249" y="3118396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280249" y="3356521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circom + Groth16 proof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80249" y="3649861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280249" y="3887986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privacy-preserving DeFi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demand is accelerating</a:t>
            </a:r>
            <a:endParaRPr lang="en-US" sz="1200" dirty="0"/>
          </a:p>
        </p:txBody>
      </p:sp>
      <p:pic>
        <p:nvPicPr>
          <p:cNvPr id="4" name="Image 0" descr="/tmp/rasterized-gradient-300276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26964"/>
            <a:ext cx="2781300" cy="1758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0736" y="1636514"/>
            <a:ext cx="148601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997297" y="2425154"/>
            <a:ext cx="1268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XMR Volume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139428" y="2815679"/>
            <a:ext cx="9786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out of DeFi</a:t>
            </a:r>
            <a:endParaRPr lang="en-US" sz="900" dirty="0"/>
          </a:p>
        </p:txBody>
      </p:sp>
      <p:pic>
        <p:nvPicPr>
          <p:cNvPr id="8" name="Image 1" descr="/tmp/rasterized-gradient-2aaaad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426964"/>
            <a:ext cx="2781300" cy="17582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88160" y="1636514"/>
            <a:ext cx="986882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$3B+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3908971" y="2425154"/>
            <a:ext cx="13524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Monero Market Cap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4095452" y="2815679"/>
            <a:ext cx="9721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DeFi yield</a:t>
            </a:r>
            <a:endParaRPr lang="en-US" sz="900" dirty="0"/>
          </a:p>
        </p:txBody>
      </p:sp>
      <p:pic>
        <p:nvPicPr>
          <p:cNvPr id="12" name="Image 2" descr="/tmp/rasterized-gradient-597089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1426964"/>
            <a:ext cx="2781300" cy="17582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29735" y="1636514"/>
            <a:ext cx="121383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3150" dirty="0"/>
          </a:p>
        </p:txBody>
      </p:sp>
      <p:sp>
        <p:nvSpPr>
          <p:cNvPr id="14" name="Text 9"/>
          <p:cNvSpPr/>
          <p:nvPr/>
        </p:nvSpPr>
        <p:spPr>
          <a:xfrm>
            <a:off x="6865739" y="2425154"/>
            <a:ext cx="1344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DeFi TVL</a:t>
            </a:r>
            <a:endParaRPr lang="en-US" sz="1125" dirty="0"/>
          </a:p>
        </p:txBody>
      </p:sp>
      <p:sp>
        <p:nvSpPr>
          <p:cNvPr id="15" name="Text 10"/>
          <p:cNvSpPr/>
          <p:nvPr/>
        </p:nvSpPr>
        <p:spPr>
          <a:xfrm>
            <a:off x="6962477" y="2815679"/>
            <a:ext cx="11470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privacy options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28600" y="3356670"/>
            <a:ext cx="8686800" cy="1373237"/>
          </a:xfrm>
          <a:prstGeom prst="roundRect">
            <a:avLst>
              <a:gd name="adj" fmla="val 832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16611" y="3528120"/>
            <a:ext cx="851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DRIVERS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645444" y="3834705"/>
            <a:ext cx="1520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Delistings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516380" y="4238476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support for XMR declining globally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476625" y="3958382"/>
            <a:ext cx="9525" cy="4762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910013" y="3834705"/>
            <a:ext cx="13504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Analysis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697605" y="4238476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increasing on public chains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657850" y="3958382"/>
            <a:ext cx="9525" cy="4762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177409" y="3834705"/>
            <a:ext cx="11745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Maturation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878830" y="4238476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and products worth bridging for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88605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proof-of-concept to production</a:t>
            </a:r>
            <a:endParaRPr lang="en-US" sz="1200" dirty="0"/>
          </a:p>
        </p:txBody>
      </p:sp>
      <p:pic>
        <p:nvPicPr>
          <p:cNvPr id="4" name="Image 0" descr="/tmp/rasterized-gradient-657d6c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923157"/>
            <a:ext cx="2100858" cy="12532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2425" y="2046982"/>
            <a:ext cx="1890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52425" y="2384078"/>
            <a:ext cx="18902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Complete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52425" y="2785914"/>
            <a:ext cx="1890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ops, ECDH decrypt, stealth verify, LP validation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424708" y="1932682"/>
            <a:ext cx="2100114" cy="1234232"/>
          </a:xfrm>
          <a:prstGeom prst="roundRect">
            <a:avLst>
              <a:gd name="adj" fmla="val 771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39008" y="2046982"/>
            <a:ext cx="19089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539008" y="2384078"/>
            <a:ext cx="19089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Launch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2539008" y="2785914"/>
            <a:ext cx="1908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setup, verifier, LP registry, testnet token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20071" y="1932682"/>
            <a:ext cx="2100114" cy="1234232"/>
          </a:xfrm>
          <a:prstGeom prst="roundRect">
            <a:avLst>
              <a:gd name="adj" fmla="val 771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34371" y="2046982"/>
            <a:ext cx="19089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2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734371" y="2384078"/>
            <a:ext cx="19089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Beta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734371" y="2785914"/>
            <a:ext cx="1908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audits, frontend, LP onboarding, mainnet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815435" y="1932682"/>
            <a:ext cx="2100114" cy="1234232"/>
          </a:xfrm>
          <a:prstGeom prst="roundRect">
            <a:avLst>
              <a:gd name="adj" fmla="val 771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929735" y="2046982"/>
            <a:ext cx="19089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929735" y="2384078"/>
            <a:ext cx="19089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Protocol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929735" y="2785914"/>
            <a:ext cx="1908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integrations, SDK, multi-chain, governance</a:t>
            </a:r>
            <a:endParaRPr lang="en-US" sz="750" dirty="0"/>
          </a:p>
        </p:txBody>
      </p:sp>
      <p:pic>
        <p:nvPicPr>
          <p:cNvPr id="20" name="Image 1" descr="/tmp/rasterized-gradient-7e640b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90739"/>
            <a:ext cx="8686800" cy="6951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7465" y="3433614"/>
            <a:ext cx="85690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 Status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025997" y="3696444"/>
            <a:ext cx="11106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circom circuit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3343424" y="3696444"/>
            <a:ext cx="10785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+ Keccak256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4629448" y="3696444"/>
            <a:ext cx="12118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ECDH amount decryption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6046143" y="3696444"/>
            <a:ext cx="10931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input verification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141732" y="4100215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software — not audited for production use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3354" y="969764"/>
            <a:ext cx="22369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 A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31798" y="1373535"/>
            <a:ext cx="22801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XMR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908740" y="2059335"/>
            <a:ext cx="53263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Monero's privacy to Ethereum through zero-knowledge cryptography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0851" y="2539305"/>
            <a:ext cx="762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12562" y="2910780"/>
            <a:ext cx="131872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zeroxmr.com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31994" y="3299371"/>
            <a:ext cx="12797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github.com/zeroxmr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2532906" y="3842296"/>
            <a:ext cx="946398" cy="331440"/>
          </a:xfrm>
          <a:prstGeom prst="roundRect">
            <a:avLst>
              <a:gd name="adj" fmla="val 5747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88605" y="3928021"/>
            <a:ext cx="6349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circom 2.1.0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2654" y="3842296"/>
            <a:ext cx="1219646" cy="331440"/>
          </a:xfrm>
          <a:prstGeom prst="roundRect">
            <a:avLst>
              <a:gd name="adj" fmla="val 5747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65621" y="3928021"/>
            <a:ext cx="9137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SNARKs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5650" y="3842296"/>
            <a:ext cx="781496" cy="331440"/>
          </a:xfrm>
          <a:prstGeom prst="roundRect">
            <a:avLst>
              <a:gd name="adj" fmla="val 5747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22999" y="3928021"/>
            <a:ext cx="46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80497" y="3842296"/>
            <a:ext cx="730448" cy="331440"/>
          </a:xfrm>
          <a:prstGeom prst="roundRect">
            <a:avLst>
              <a:gd name="adj" fmla="val 5747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38356" y="3928021"/>
            <a:ext cx="4147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XMR - Trustless Wrapped Monero</dc:title>
  <dc:subject>Zero-knowledge bridging of Monero to Ethereum</dc:subject>
  <dc:creator>Zero XMR</dc:creator>
  <cp:lastModifiedBy>Zero XMR</cp:lastModifiedBy>
  <cp:revision>1</cp:revision>
  <dcterms:created xsi:type="dcterms:W3CDTF">2026-01-05T16:49:55Z</dcterms:created>
  <dcterms:modified xsi:type="dcterms:W3CDTF">2026-01-05T16:49:55Z</dcterms:modified>
</cp:coreProperties>
</file>